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B0B0B"/>
                </a:solidFill>
              </a:defRPr>
            </a:pPr>
            <a:r>
              <a:t>Sentiment Analysis of News Headlines</a:t>
            </a:r>
          </a:p>
          <a:p>
            <a:pPr>
              <a:defRPr sz="2200">
                <a:solidFill>
                  <a:srgbClr val="52514E"/>
                </a:solidFill>
              </a:defRPr>
            </a:pPr>
            <a:r>
              <a:t>Do computational sentiment labels match what headlines mean?</a:t>
            </a:r>
          </a:p>
          <a:p>
            <a:pPr>
              <a:defRPr sz="1600">
                <a:solidFill>
                  <a:srgbClr val="52514E"/>
                </a:solidFill>
              </a:defRPr>
            </a:pPr>
            <a:r>
              <a:t>Python · pandas · VADER  |  NLP Mini Assignment  |  26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B0B0B"/>
                </a:solidFill>
              </a:defRPr>
            </a:pPr>
            <a:r>
              <a:t>Research question &amp;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B0B0B"/>
                </a:solidFill>
              </a:defRPr>
            </a:pPr>
            <a:r>
              <a:t>• Question: when VADER labels a headline positive / negative / neutral, does the label reflect its meaning?</a:t>
            </a:r>
          </a:p>
          <a:p>
            <a:pPr>
              <a:spcAft>
                <a:spcPts val="800"/>
              </a:spcAft>
              <a:defRPr sz="2000">
                <a:solidFill>
                  <a:srgbClr val="0B0B0B"/>
                </a:solidFill>
              </a:defRPr>
            </a:pPr>
            <a:r>
              <a:t>• Dataset: News Headlines Dataset for Sarcasm Detection (Misra &amp; Arora, 2023)</a:t>
            </a:r>
          </a:p>
          <a:p>
            <a:pPr lvl="1">
              <a:spcAft>
                <a:spcPts val="800"/>
              </a:spcAft>
              <a:defRPr sz="1700">
                <a:solidFill>
                  <a:srgbClr val="52514E"/>
                </a:solidFill>
              </a:defRPr>
            </a:pPr>
            <a:r>
              <a:t>– 28,619 headlines: HuffPost (real news) + The Onion (satire), with an is_sarcastic flag</a:t>
            </a:r>
          </a:p>
          <a:p>
            <a:pPr lvl="1">
              <a:spcAft>
                <a:spcPts val="800"/>
              </a:spcAft>
              <a:defRPr sz="1700">
                <a:solidFill>
                  <a:srgbClr val="52514E"/>
                </a:solidFill>
              </a:defRPr>
            </a:pPr>
            <a:r>
              <a:t>– The satire flag gives an independent test of how VADER handles sarcasm</a:t>
            </a:r>
          </a:p>
          <a:p>
            <a:pPr>
              <a:spcAft>
                <a:spcPts val="800"/>
              </a:spcAft>
              <a:defRPr sz="2000">
                <a:solidFill>
                  <a:srgbClr val="0B0B0B"/>
                </a:solidFill>
              </a:defRPr>
            </a:pPr>
            <a:r>
              <a:t>• Cleaning: 0 missing values; 116 duplicate headlines removed → 28,503 unique</a:t>
            </a:r>
          </a:p>
          <a:p>
            <a:pPr lvl="1">
              <a:spcAft>
                <a:spcPts val="800"/>
              </a:spcAft>
              <a:defRPr sz="1700">
                <a:solidFill>
                  <a:srgbClr val="52514E"/>
                </a:solidFill>
              </a:defRPr>
            </a:pPr>
            <a:r>
              <a:t>– e.g. "'no way to prevent this,' says only nation where this regularly happens" appears 12×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B0B0B"/>
                </a:solidFill>
              </a:defRPr>
            </a:pPr>
            <a:r>
              <a:t>Method: VADER + documented decision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B0B0B"/>
                </a:solidFill>
              </a:defRPr>
            </a:pPr>
            <a:r>
              <a:t>• VADER: dictionary of ~7,500 human-rated words (−4 … +4) + rules for negation, intensifiers, 'but', punctuation, capitals</a:t>
            </a:r>
          </a:p>
          <a:p>
            <a:pPr>
              <a:spcAft>
                <a:spcPts val="800"/>
              </a:spcAft>
              <a:defRPr sz="2000">
                <a:solidFill>
                  <a:srgbClr val="0B0B0B"/>
                </a:solidFill>
              </a:defRPr>
            </a:pPr>
            <a:r>
              <a:t>• Produces a compound score in [−1, +1]</a:t>
            </a:r>
          </a:p>
          <a:p>
            <a:pPr>
              <a:spcAft>
                <a:spcPts val="800"/>
              </a:spcAft>
              <a:defRPr sz="2000">
                <a:solidFill>
                  <a:srgbClr val="0B0B0B"/>
                </a:solidFill>
              </a:defRPr>
            </a:pPr>
            <a:r>
              <a:t>• Decision rules (Hutto &amp; Gilbert, 2014):</a:t>
            </a:r>
          </a:p>
          <a:p>
            <a:pPr lvl="1">
              <a:spcAft>
                <a:spcPts val="800"/>
              </a:spcAft>
              <a:defRPr sz="1700">
                <a:solidFill>
                  <a:srgbClr val="52514E"/>
                </a:solidFill>
              </a:defRPr>
            </a:pPr>
            <a:r>
              <a:t>– compound ≥ +0.05 → positive</a:t>
            </a:r>
          </a:p>
          <a:p>
            <a:pPr lvl="1">
              <a:spcAft>
                <a:spcPts val="800"/>
              </a:spcAft>
              <a:defRPr sz="1700">
                <a:solidFill>
                  <a:srgbClr val="52514E"/>
                </a:solidFill>
              </a:defRPr>
            </a:pPr>
            <a:r>
              <a:t>– compound ≤ −0.05 → negative</a:t>
            </a:r>
          </a:p>
          <a:p>
            <a:pPr lvl="1">
              <a:spcAft>
                <a:spcPts val="800"/>
              </a:spcAft>
              <a:defRPr sz="1700">
                <a:solidFill>
                  <a:srgbClr val="52514E"/>
                </a:solidFill>
              </a:defRPr>
            </a:pPr>
            <a:r>
              <a:t>– otherwise → neutral</a:t>
            </a:r>
          </a:p>
          <a:p>
            <a:pPr>
              <a:spcAft>
                <a:spcPts val="800"/>
              </a:spcAft>
              <a:defRPr sz="2000">
                <a:solidFill>
                  <a:srgbClr val="0B0B0B"/>
                </a:solidFill>
              </a:defRPr>
            </a:pPr>
            <a:r>
              <a:t>• Note: the dataset is all lower case, so VADER's capitalisation rule never applies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B0B0B"/>
                </a:solidFill>
              </a:defRPr>
            </a:pPr>
            <a:r>
              <a:t>Results: a seemingly balanced picture</a:t>
            </a:r>
          </a:p>
        </p:txBody>
      </p:sp>
      <p:pic>
        <p:nvPicPr>
          <p:cNvPr id="3" name="Picture 2" descr="fig1_sentiment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309889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778240" y="1828800"/>
            <a:ext cx="3108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B0B0B"/>
                </a:solidFill>
              </a:defRPr>
            </a:pPr>
            <a:r>
              <a:t>• Negative: 9,402 (33.0%)</a:t>
            </a:r>
          </a:p>
          <a:p>
            <a:pPr>
              <a:spcAft>
                <a:spcPts val="800"/>
              </a:spcAft>
              <a:defRPr sz="1800">
                <a:solidFill>
                  <a:srgbClr val="0B0B0B"/>
                </a:solidFill>
              </a:defRPr>
            </a:pPr>
            <a:r>
              <a:t>• Neutral: 10,200 (35.8%)</a:t>
            </a:r>
          </a:p>
          <a:p>
            <a:pPr>
              <a:spcAft>
                <a:spcPts val="800"/>
              </a:spcAft>
              <a:defRPr sz="1800">
                <a:solidFill>
                  <a:srgbClr val="0B0B0B"/>
                </a:solidFill>
              </a:defRPr>
            </a:pPr>
            <a:r>
              <a:t>• Positive: 8,901 (31.2%)</a:t>
            </a:r>
          </a:p>
          <a:p>
            <a:pPr>
              <a:spcAft>
                <a:spcPts val="800"/>
              </a:spcAft>
              <a:defRPr sz="1800">
                <a:solidFill>
                  <a:srgbClr val="0B0B0B"/>
                </a:solidFill>
              </a:defRPr>
            </a:pPr>
            <a:r>
              <a:t>• Taken at face value: news is emotionally balanced</a:t>
            </a:r>
          </a:p>
          <a:p>
            <a:pPr>
              <a:spcAft>
                <a:spcPts val="800"/>
              </a:spcAft>
              <a:defRPr sz="1800">
                <a:solidFill>
                  <a:srgbClr val="0B0B0B"/>
                </a:solidFill>
              </a:defRPr>
            </a:pPr>
            <a:r>
              <a:t>• …but is it?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B0B0B"/>
                </a:solidFill>
              </a:defRPr>
            </a:pPr>
            <a:r>
              <a:t>Finding 1: VADER cannot see satire</a:t>
            </a:r>
          </a:p>
        </p:txBody>
      </p:sp>
      <p:pic>
        <p:nvPicPr>
          <p:cNvPr id="3" name="Picture 2" descr="fig3_sentiment_by_sour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371600"/>
            <a:ext cx="10058400" cy="343985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25780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B0B0B"/>
                </a:solidFill>
              </a:defRPr>
            </a:pPr>
            <a:r>
              <a:t>• Satire and real news get almost the same label mix; mean compound −0.016 vs −0.011</a:t>
            </a:r>
          </a:p>
          <a:p>
            <a:pPr>
              <a:spcAft>
                <a:spcPts val="800"/>
              </a:spcAft>
              <a:defRPr sz="1800">
                <a:solidFill>
                  <a:srgbClr val="0B0B0B"/>
                </a:solidFill>
              </a:defRPr>
            </a:pPr>
            <a:r>
              <a:t>• χ² is 'significant' only because n is huge; Cramér's V ≈ 0.03 → negligible effect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B0B0B"/>
                </a:solidFill>
              </a:defRPr>
            </a:pPr>
            <a:r>
              <a:t>Finding 2: 'Neutral' often means 'unknown'</a:t>
            </a:r>
          </a:p>
        </p:txBody>
      </p:sp>
      <p:pic>
        <p:nvPicPr>
          <p:cNvPr id="3" name="Picture 2" descr="fig4_compound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0"/>
            <a:ext cx="6949440" cy="325480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79" y="1645920"/>
            <a:ext cx="4389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0B0B0B"/>
                </a:solidFill>
              </a:defRPr>
            </a:pPr>
            <a:r>
              <a:t>• 95.6% of neutral headlines contain no VADER dictionary word at all</a:t>
            </a:r>
          </a:p>
          <a:p>
            <a:pPr>
              <a:spcAft>
                <a:spcPts val="800"/>
              </a:spcAft>
              <a:defRPr sz="1700">
                <a:solidFill>
                  <a:srgbClr val="0B0B0B"/>
                </a:solidFill>
              </a:defRPr>
            </a:pPr>
            <a:r>
              <a:t>• Missing: dies, shooting, hurricane, flood, layoffs, deported</a:t>
            </a:r>
          </a:p>
          <a:p>
            <a:pPr lvl="1">
              <a:spcAft>
                <a:spcPts val="800"/>
              </a:spcAft>
              <a:defRPr sz="1400">
                <a:solidFill>
                  <a:srgbClr val="52514E"/>
                </a:solidFill>
              </a:defRPr>
            </a:pPr>
            <a:r>
              <a:t>– 'died' is in the dictionary; 'dies' is not</a:t>
            </a:r>
          </a:p>
          <a:p>
            <a:pPr lvl="1">
              <a:spcAft>
                <a:spcPts val="800"/>
              </a:spcAft>
              <a:defRPr sz="1400">
                <a:solidFill>
                  <a:srgbClr val="52514E"/>
                </a:solidFill>
              </a:defRPr>
            </a:pPr>
            <a:r>
              <a:t>– "cilla black dies at 72" → 0.00</a:t>
            </a:r>
          </a:p>
          <a:p>
            <a:pPr>
              <a:spcAft>
                <a:spcPts val="800"/>
              </a:spcAft>
              <a:defRPr sz="1700">
                <a:solidFill>
                  <a:srgbClr val="0B0B0B"/>
                </a:solidFill>
              </a:defRPr>
            </a:pPr>
            <a:r>
              <a:t>• Finding 3: widening the neutral band to ±0.20 makes 43% neutral; ±0.50 makes 75%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B0B0B"/>
                </a:solidFill>
              </a:defRPr>
            </a:pPr>
            <a:r>
              <a:t>Close reading: 10 headlines (VADER agrees on 2/10)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75120"/>
                <a:gridCol w="1463040"/>
                <a:gridCol w="1280160"/>
                <a:gridCol w="1828800"/>
              </a:tblGrid>
              <a:tr h="465512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Headline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VADER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Human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Why</a:t>
                      </a:r>
                    </a:p>
                  </a:txBody>
                  <a:tcPr/>
                </a:tc>
              </a:tr>
              <a:tr h="465512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student killed herself after university mishandled her rape report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34948"/>
                          </a:solidFill>
                        </a:defRPr>
                      </a:pPr>
                      <a:r>
                        <a:t>neg −0.88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neg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explicit cue ✓</a:t>
                      </a:r>
                    </a:p>
                  </a:txBody>
                  <a:tcPr/>
                </a:tc>
              </a:tr>
              <a:tr h="465512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mexico mayor killed less than a day after taking office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34948"/>
                          </a:solidFill>
                        </a:defRPr>
                      </a:pPr>
                      <a:r>
                        <a:t>neg −0.67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neg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explicit cue ✓</a:t>
                      </a:r>
                    </a:p>
                  </a:txBody>
                  <a:tcPr/>
                </a:tc>
              </a:tr>
              <a:tr h="465512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british singer … cilla black dies at 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52514E"/>
                          </a:solidFill>
                        </a:defRPr>
                      </a:pPr>
                      <a:r>
                        <a:t>neu 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neg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missing word</a:t>
                      </a:r>
                    </a:p>
                  </a:txBody>
                  <a:tcPr/>
                </a:tc>
              </a:tr>
              <a:tr h="465512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how fake meat may change our future thanksgiving dinners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34948"/>
                          </a:solidFill>
                        </a:defRPr>
                      </a:pPr>
                      <a:r>
                        <a:t>neg −0.48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neu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word sense</a:t>
                      </a:r>
                    </a:p>
                  </a:txBody>
                  <a:tcPr/>
                </a:tc>
              </a:tr>
              <a:tr h="465512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duke students refuse to read 'fun home' 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78D6"/>
                          </a:solidFill>
                        </a:defRPr>
                      </a:pPr>
                      <a:r>
                        <a:t>pos +0.27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neg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book title</a:t>
                      </a:r>
                    </a:p>
                  </a:txBody>
                  <a:tcPr/>
                </a:tc>
              </a:tr>
              <a:tr h="465512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bob hope happy to see so many troops in heaven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78D6"/>
                          </a:solidFill>
                        </a:defRPr>
                      </a:pPr>
                      <a:r>
                        <a:t>pos +0.87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neg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name + irony</a:t>
                      </a:r>
                    </a:p>
                  </a:txBody>
                  <a:tcPr/>
                </a:tc>
              </a:tr>
              <a:tr h="465512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…underfunded schools leave students perfectly prepared…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78D6"/>
                          </a:solidFill>
                        </a:defRPr>
                      </a:pPr>
                      <a:r>
                        <a:t>pos +0.82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neg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sarcasm</a:t>
                      </a:r>
                    </a:p>
                  </a:txBody>
                  <a:tcPr/>
                </a:tc>
              </a:tr>
              <a:tr h="465512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'no way to prevent this,' says only nation 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52514E"/>
                          </a:solidFill>
                        </a:defRPr>
                      </a:pPr>
                      <a:r>
                        <a:t>neu +0.03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neg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satire / implicit</a:t>
                      </a:r>
                    </a:p>
                  </a:txBody>
                  <a:tcPr/>
                </a:tc>
              </a:tr>
              <a:tr h="465512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boeing lays off only guy who knows how to keep wings on plane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52514E"/>
                          </a:solidFill>
                        </a:defRPr>
                      </a:pPr>
                      <a:r>
                        <a:t>neu 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neg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implicit</a:t>
                      </a:r>
                    </a:p>
                  </a:txBody>
                  <a:tcPr/>
                </a:tc>
              </a:tr>
              <a:tr h="465520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separating from a wonderful man after 27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78D6"/>
                          </a:solidFill>
                        </a:defRPr>
                      </a:pPr>
                      <a:r>
                        <a:t>pos +0.57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neg/mixed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mixed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B0B0B"/>
                </a:solidFill>
              </a:defRPr>
            </a:pPr>
            <a:r>
              <a:t>Why VADER goes wrong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B0B0B"/>
                </a:solidFill>
              </a:defRPr>
            </a:pPr>
            <a:r>
              <a:t>• Sarcasm &amp; irony: positive words carry negative meaning ("perfectly prepared")</a:t>
            </a:r>
          </a:p>
          <a:p>
            <a:pPr>
              <a:spcAft>
                <a:spcPts val="800"/>
              </a:spcAft>
              <a:defRPr sz="2000">
                <a:solidFill>
                  <a:srgbClr val="0B0B0B"/>
                </a:solidFill>
              </a:defRPr>
            </a:pPr>
            <a:r>
              <a:t>• Ambiguity: word sense (fake meat) and names (Bob Hope, Fun Home) are scored as emotions</a:t>
            </a:r>
          </a:p>
          <a:p>
            <a:pPr>
              <a:spcAft>
                <a:spcPts val="800"/>
              </a:spcAft>
              <a:defRPr sz="2000">
                <a:solidFill>
                  <a:srgbClr val="0B0B0B"/>
                </a:solidFill>
              </a:defRPr>
            </a:pPr>
            <a:r>
              <a:t>• Context &amp; world knowledge: meaning lies in the situation, not in emotional words (a plane without wings)</a:t>
            </a:r>
          </a:p>
          <a:p>
            <a:pPr>
              <a:spcAft>
                <a:spcPts val="800"/>
              </a:spcAft>
              <a:defRPr sz="2000">
                <a:solidFill>
                  <a:srgbClr val="0B0B0B"/>
                </a:solidFill>
              </a:defRPr>
            </a:pPr>
            <a:r>
              <a:t>• Dictionary coverage: missing words → false 'neutral', so negative news is hidden</a:t>
            </a:r>
          </a:p>
          <a:p>
            <a:pPr>
              <a:spcAft>
                <a:spcPts val="800"/>
              </a:spcAft>
              <a:defRPr sz="2000">
                <a:solidFill>
                  <a:srgbClr val="0B0B0B"/>
                </a:solidFill>
              </a:defRPr>
            </a:pPr>
            <a:r>
              <a:t>• What is being measured? topic vs. writer's stance vs. reader's reaction are mixed together</a:t>
            </a:r>
          </a:p>
          <a:p>
            <a:pPr>
              <a:spcAft>
                <a:spcPts val="800"/>
              </a:spcAft>
              <a:defRPr sz="2000">
                <a:solidFill>
                  <a:srgbClr val="0B0B0B"/>
                </a:solidFill>
              </a:defRPr>
            </a:pPr>
            <a:r>
              <a:t>• Thresholds &amp; preprocessing: category sizes are partly a researcher's choice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B0B0B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B0B0B"/>
                </a:solidFill>
              </a:defRPr>
            </a:pPr>
            <a:r>
              <a:t>• VADER is fast and transparent, and works when emotion is stated directly</a:t>
            </a:r>
          </a:p>
          <a:p>
            <a:pPr>
              <a:spcAft>
                <a:spcPts val="800"/>
              </a:spcAft>
              <a:defRPr sz="2000">
                <a:solidFill>
                  <a:srgbClr val="0B0B0B"/>
                </a:solidFill>
              </a:defRPr>
            </a:pPr>
            <a:r>
              <a:t>• Its balanced-looking output (33 / 36 / 31%) hides three problems:</a:t>
            </a:r>
          </a:p>
          <a:p>
            <a:pPr lvl="1">
              <a:spcAft>
                <a:spcPts val="800"/>
              </a:spcAft>
              <a:defRPr sz="1700">
                <a:solidFill>
                  <a:srgbClr val="52514E"/>
                </a:solidFill>
              </a:defRPr>
            </a:pPr>
            <a:r>
              <a:t>– it does not tell satire from sincere reporting</a:t>
            </a:r>
          </a:p>
          <a:p>
            <a:pPr lvl="1">
              <a:spcAft>
                <a:spcPts val="800"/>
              </a:spcAft>
              <a:defRPr sz="1700">
                <a:solidFill>
                  <a:srgbClr val="52514E"/>
                </a:solidFill>
              </a:defRPr>
            </a:pPr>
            <a:r>
              <a:t>– most 'neutral' labels come from missing vocabulary</a:t>
            </a:r>
          </a:p>
          <a:p>
            <a:pPr lvl="1">
              <a:spcAft>
                <a:spcPts val="800"/>
              </a:spcAft>
              <a:defRPr sz="1700">
                <a:solidFill>
                  <a:srgbClr val="52514E"/>
                </a:solidFill>
              </a:defRPr>
            </a:pPr>
            <a:r>
              <a:t>– category sizes depend on arbitrary thresholds</a:t>
            </a:r>
          </a:p>
          <a:p>
            <a:pPr>
              <a:spcAft>
                <a:spcPts val="800"/>
              </a:spcAft>
              <a:defRPr sz="2000">
                <a:solidFill>
                  <a:srgbClr val="0B0B0B"/>
                </a:solidFill>
              </a:defRPr>
            </a:pPr>
            <a:r>
              <a:t>• Use computational labels as a first rough pass that must be checked by reading the headlines</a:t>
            </a:r>
          </a:p>
          <a:p>
            <a:pPr>
              <a:spcAft>
                <a:spcPts val="800"/>
              </a:spcAft>
              <a:defRPr sz="2000">
                <a:solidFill>
                  <a:srgbClr val="0B0B0B"/>
                </a:solidFill>
              </a:defRPr>
            </a:pPr>
            <a:r>
              <a:t>• Next steps: human-annotated random sample (with inter-annotator agreement); compare with a transformer model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B0B0B"/>
                </a:solidFill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B0B0B"/>
                </a:solidFill>
              </a:defRPr>
            </a:pPr>
            <a:r>
              <a:t>• Hutto, C. J., &amp; Gilbert, E. (2014). VADER: A parsimonious rule-based model for sentiment analysis of social media text. ICWSM, 8(1), 216–225.</a:t>
            </a:r>
          </a:p>
          <a:p>
            <a:pPr>
              <a:spcAft>
                <a:spcPts val="800"/>
              </a:spcAft>
              <a:defRPr sz="1600">
                <a:solidFill>
                  <a:srgbClr val="0B0B0B"/>
                </a:solidFill>
              </a:defRPr>
            </a:pPr>
            <a:r>
              <a:t>• Misra, R., &amp; Arora, P. (2023). Sarcasm detection using news headlines dataset. AI Open, 4, 13–18.</a:t>
            </a:r>
          </a:p>
          <a:p>
            <a:pPr>
              <a:spcAft>
                <a:spcPts val="800"/>
              </a:spcAft>
              <a:defRPr sz="1600">
                <a:solidFill>
                  <a:srgbClr val="0B0B0B"/>
                </a:solidFill>
              </a:defRPr>
            </a:pPr>
            <a:r>
              <a:t>• Misra, R., &amp; Grover, J. (2021). Sculpting Data for ML: The first act of Machine Learning.</a:t>
            </a:r>
          </a:p>
          <a:p>
            <a:pPr>
              <a:spcAft>
                <a:spcPts val="800"/>
              </a:spcAft>
              <a:defRPr sz="1600">
                <a:solidFill>
                  <a:srgbClr val="0B0B0B"/>
                </a:solidFill>
              </a:defRPr>
            </a:pPr>
            <a:r>
              <a:t>• Dataset: github.com/rishabhmisra/News-Headlines-Dataset-For-Sarcasm-Detection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Sentiment Analysis of News Headlines - Presentation</dc:title>
  <dc:subject/>
  <dc:creator>Muhammad Ammar</dc:creator>
  <cp:keywords/>
  <dc:description/>
  <cp:lastModifiedBy>Muhammad Ammar</cp:lastModifiedBy>
  <cp:revision>1</cp:revision>
  <dcterms:created xsi:type="dcterms:W3CDTF">2026-10-20T00:00:00Z</dcterms:created>
  <dcterms:modified xsi:type="dcterms:W3CDTF">2026-10-20T00:00:00Z</dcterms:modified>
  <cp:category/>
</cp:coreProperties>
</file>